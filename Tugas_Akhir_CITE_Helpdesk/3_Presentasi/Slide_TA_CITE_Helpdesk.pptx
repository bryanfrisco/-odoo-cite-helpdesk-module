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1" i="0" dirty="0">
                <a:solidFill>
                  <a:srgbClr val="9FC2E6"/>
                </a:solidFill>
                <a:latin typeface="Calibri"/>
              </a:rPr>
              <a:t>METOPEN</a:t>
            </a:r>
            <a:r>
              <a:rPr sz="1500" b="1" i="0" dirty="0">
                <a:solidFill>
                  <a:srgbClr val="9FC2E6"/>
                </a:solidFill>
                <a:latin typeface="Calibri"/>
              </a:rPr>
              <a:t> — TEKNIK INFORMATIKA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Perancangan dan Implementasi Sistem IT Helpdesk dan Manajemen Layanan Berbasis Odoo pada Grup Perusahaan Multi-Entitas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058400" cy="943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Bryan Frisco Peraira - 20230801224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 dirty="0">
                <a:solidFill>
                  <a:srgbClr val="CFDDEC"/>
                </a:solidFill>
                <a:latin typeface="Calibri"/>
              </a:rPr>
              <a:t>Dosen </a:t>
            </a:r>
            <a:r>
              <a:rPr sz="1500" b="0" i="0" dirty="0" err="1">
                <a:solidFill>
                  <a:srgbClr val="CFDDEC"/>
                </a:solidFill>
                <a:latin typeface="Calibri"/>
              </a:rPr>
              <a:t>Pengampu</a:t>
            </a:r>
            <a:r>
              <a:rPr sz="1500" b="0" i="0" dirty="0">
                <a:solidFill>
                  <a:srgbClr val="CFDDEC"/>
                </a:solidFill>
                <a:latin typeface="Calibri"/>
              </a:rPr>
              <a:t>: Dr. </a:t>
            </a:r>
            <a:r>
              <a:rPr sz="1500" b="0" i="0" dirty="0" err="1">
                <a:solidFill>
                  <a:srgbClr val="CFDDEC"/>
                </a:solidFill>
                <a:latin typeface="Calibri"/>
              </a:rPr>
              <a:t>Nenden</a:t>
            </a:r>
            <a:r>
              <a:rPr sz="1500" b="0" i="0" dirty="0">
                <a:solidFill>
                  <a:srgbClr val="CFDDEC"/>
                </a:solidFill>
                <a:latin typeface="Calibri"/>
              </a:rPr>
              <a:t> Siti </a:t>
            </a:r>
            <a:r>
              <a:rPr sz="1500" b="0" i="0" dirty="0" err="1">
                <a:solidFill>
                  <a:srgbClr val="CFDDEC"/>
                </a:solidFill>
                <a:latin typeface="Calibri"/>
              </a:rPr>
              <a:t>Fatonah</a:t>
            </a:r>
            <a:r>
              <a:rPr sz="1500" b="0" i="0" dirty="0">
                <a:solidFill>
                  <a:srgbClr val="CFDDEC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CFDDEC"/>
                </a:solidFill>
                <a:latin typeface="Calibri"/>
              </a:rPr>
              <a:t>S.Si</a:t>
            </a:r>
            <a:r>
              <a:rPr sz="1500" b="0" i="0" dirty="0">
                <a:solidFill>
                  <a:srgbClr val="CFDDEC"/>
                </a:solidFill>
                <a:latin typeface="Calibri"/>
              </a:rPr>
              <a:t>., </a:t>
            </a:r>
            <a:r>
              <a:rPr sz="1500" b="0" i="0" dirty="0" err="1">
                <a:solidFill>
                  <a:srgbClr val="CFDDEC"/>
                </a:solidFill>
                <a:latin typeface="Calibri"/>
              </a:rPr>
              <a:t>M.Kom</a:t>
            </a:r>
            <a:r>
              <a:rPr sz="1500" b="0" i="0" dirty="0">
                <a:solidFill>
                  <a:srgbClr val="CFDDEC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 dirty="0">
                <a:solidFill>
                  <a:srgbClr val="9FC2E6"/>
                </a:solidFill>
                <a:latin typeface="Calibri"/>
              </a:rPr>
              <a:t>Program Studi Teknik </a:t>
            </a:r>
            <a:r>
              <a:rPr sz="1300" b="0" i="0" dirty="0" err="1">
                <a:solidFill>
                  <a:srgbClr val="9FC2E6"/>
                </a:solidFill>
                <a:latin typeface="Calibri"/>
              </a:rPr>
              <a:t>Informatika</a:t>
            </a:r>
            <a:r>
              <a:rPr sz="1300" b="0" i="0" dirty="0">
                <a:solidFill>
                  <a:srgbClr val="9FC2E6"/>
                </a:solidFill>
                <a:latin typeface="Calibri"/>
              </a:rPr>
              <a:t> · </a:t>
            </a:r>
            <a:r>
              <a:rPr sz="1300" b="0" i="0" dirty="0" err="1">
                <a:solidFill>
                  <a:srgbClr val="9FC2E6"/>
                </a:solidFill>
                <a:latin typeface="Calibri"/>
              </a:rPr>
              <a:t>Fakultas</a:t>
            </a:r>
            <a:r>
              <a:rPr sz="1300" b="0" i="0" dirty="0">
                <a:solidFill>
                  <a:srgbClr val="9FC2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FC2E6"/>
                </a:solidFill>
                <a:latin typeface="Calibri"/>
              </a:rPr>
              <a:t>Ilmu</a:t>
            </a:r>
            <a:r>
              <a:rPr sz="1300" b="0" i="0" dirty="0">
                <a:solidFill>
                  <a:srgbClr val="9FC2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FC2E6"/>
                </a:solidFill>
                <a:latin typeface="Calibri"/>
              </a:rPr>
              <a:t>Komputer</a:t>
            </a:r>
            <a:r>
              <a:rPr sz="1300" b="0" i="0" dirty="0">
                <a:solidFill>
                  <a:srgbClr val="9FC2E6"/>
                </a:solidFill>
                <a:latin typeface="Calibri"/>
              </a:rPr>
              <a:t> · Universitas Esa </a:t>
            </a:r>
            <a:r>
              <a:rPr sz="1300" b="0" i="0" dirty="0" err="1">
                <a:solidFill>
                  <a:srgbClr val="9FC2E6"/>
                </a:solidFill>
                <a:latin typeface="Calibri"/>
              </a:rPr>
              <a:t>Unggul</a:t>
            </a:r>
            <a:r>
              <a:rPr sz="1300" b="0" i="0" dirty="0">
                <a:solidFill>
                  <a:srgbClr val="9FC2E6"/>
                </a:solidFill>
                <a:latin typeface="Calibri"/>
              </a:rPr>
              <a:t>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1 — 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 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 dirty="0" err="1">
                <a:solidFill>
                  <a:srgbClr val="555555"/>
                </a:solidFill>
                <a:latin typeface="Calibri"/>
              </a:rPr>
              <a:t>Layanan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IT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satu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grup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(3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perusahaan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)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dilaporkan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lewat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kanal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tidak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resmi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 —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telepon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,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japri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, </a:t>
            </a:r>
            <a:r>
              <a:rPr sz="1800" b="0" i="1" dirty="0" err="1">
                <a:solidFill>
                  <a:srgbClr val="555555"/>
                </a:solidFill>
                <a:latin typeface="Calibri"/>
              </a:rPr>
              <a:t>lisan</a:t>
            </a:r>
            <a:r>
              <a:rPr sz="18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972800" cy="3840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Laporan tidak terdokumentasi dan sulit ditelusuri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Prioritas ditentukan subjektif — yang paling sering menagih didahulukan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Tidak ada janji waktu penyelesaian (SLA) yang terukur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Permintaan sensitif (akses, server, aset) tanpa persetujuan yang tercatat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Beban kerja antaranggota tim tidak merata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Manajemen tidak memiliki data kinerja layanan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1 — 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Identifikasi &amp; Rumusan 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Bagaimana melayani 3 perusahaan dalam satu sistem tanpa data tercampur?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Bagaimana menentukan prioritas secara objektif dan konsisten?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Bagaimana memastikan permintaan sensitif melewati persetujuan yang tidak dapat dilangkahi?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Bagaimana menetapkan dan mengukur kualitas layanan melalui SLA?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Bagaimana sistem dapat hidup berdampingan dengan modul helpdesk lain di basis data yang sama?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1 — 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Membangun sistem IT Helpdesk &amp; ITSM terpusat berbasis Odoo 17 Enterprise sebagai pintu tunggal layanan.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972800" cy="3840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Portal mandiri untuk melapor dan memantau tiket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Matriks prioritas otomatis berbasis Impact × Urgency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Persetujuan dua tingkat dengan pemisahan tugas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Kebijakan SLA + peringatan dini + notifikasi pelanggaran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Dasbor operasional sebagai dasar keputusan manajemen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Jaminan pemisahan data antarperusahaan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2 — TINJAUAN PUSTAKA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Landasan Teori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ITSM &amp; ITIL — pengelolaan layanan TI berorientasi nilai bagi pengguna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–  Incident = gangguan (punya akar penyebab); Service Request = permintaan rutin (butuh persetujuan)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SLA — target waktu Response &amp; Resolution, berbasis jam kerja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Matriks Prioritas — Impact × Urgency → prioritas dihitung sistem, bukan dipilih pelapor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RBAC &amp; Segregation of Duty — hak per peran; pemohon tak boleh menyetujui permintaannya sendiri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ERP Odoo &amp; arsitektur multi-perusahaan (record rule untuk isolasi data)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3 — METODE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Tahapan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 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Tahap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Kegiatan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Keluaran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Analisis kebutuhan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Identifikasi masalah &amp; alur kerja eksisting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Daftar kebutuhan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Perancangan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Model data, alur status, matriks prioritas &amp; approval, RBAC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Blueprint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Implementasi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Pengembangan modul Odoo (native-first)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Modul cite_helpdesk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Pengujian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Unit testing + black-box (instalasi bersih)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Laporan pengujian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Evaluasi &amp; perbaikan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Uji coba staging + perbaikan bertahap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Serangkaian rilis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  <a:latin typeface="Calibri"/>
              </a:rPr>
              <a:t>Prinsip native-first: manfaatkan fitur bawaan Odoo, kode kustom hanya untuk yang tidak tersedia.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Fitur Utama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486400" cy="217495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dirty="0">
                <a:solidFill>
                  <a:srgbClr val="222A33"/>
                </a:solidFill>
                <a:latin typeface="Calibri"/>
              </a:rPr>
              <a:t>• 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Penomoran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tiket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IT-YYYY-XXXXX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dirty="0">
                <a:solidFill>
                  <a:srgbClr val="222A33"/>
                </a:solidFill>
                <a:latin typeface="Calibri"/>
              </a:rPr>
              <a:t>•  Portal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mandiri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</a:t>
            </a:r>
            <a:r>
              <a:rPr lang="en-US" sz="1700" dirty="0">
                <a:solidFill>
                  <a:srgbClr val="222A33"/>
                </a:solidFill>
                <a:latin typeface="Calibri"/>
              </a:rPr>
              <a:t>"</a:t>
            </a:r>
            <a:r>
              <a:rPr sz="1700" dirty="0">
                <a:solidFill>
                  <a:srgbClr val="222A33"/>
                </a:solidFill>
                <a:latin typeface="Calibri"/>
              </a:rPr>
              <a:t>/citehelpdesk2</a:t>
            </a:r>
            <a:r>
              <a:rPr lang="en-US" sz="1700" dirty="0">
                <a:solidFill>
                  <a:srgbClr val="222A33"/>
                </a:solidFill>
                <a:latin typeface="Calibri"/>
              </a:rPr>
              <a:t>"</a:t>
            </a:r>
            <a:endParaRPr sz="1700" dirty="0">
              <a:solidFill>
                <a:srgbClr val="222A33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dirty="0">
                <a:solidFill>
                  <a:srgbClr val="222A33"/>
                </a:solidFill>
                <a:latin typeface="Calibri"/>
              </a:rPr>
              <a:t>• 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Prioritas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otomatis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(20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kombinasi</a:t>
            </a:r>
            <a:r>
              <a:rPr sz="1700" dirty="0">
                <a:solidFill>
                  <a:srgbClr val="222A33"/>
                </a:solidFill>
                <a:latin typeface="Calibri"/>
              </a:rPr>
              <a:t>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dirty="0">
                <a:solidFill>
                  <a:srgbClr val="222A33"/>
                </a:solidFill>
                <a:latin typeface="Calibri"/>
              </a:rPr>
              <a:t>• 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Persetujuan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2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tingkat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+ guard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 dirty="0">
                <a:solidFill>
                  <a:srgbClr val="222A33"/>
                </a:solidFill>
                <a:latin typeface="Calibri"/>
              </a:rPr>
              <a:t>•  SLA + </a:t>
            </a:r>
            <a:r>
              <a:rPr sz="1700" dirty="0" err="1">
                <a:solidFill>
                  <a:srgbClr val="222A33"/>
                </a:solidFill>
                <a:latin typeface="Calibri"/>
              </a:rPr>
              <a:t>peringatan</a:t>
            </a:r>
            <a:r>
              <a:rPr sz="1700" dirty="0">
                <a:solidFill>
                  <a:srgbClr val="222A33"/>
                </a:solidFill>
                <a:latin typeface="Calibri"/>
              </a:rPr>
              <a:t> 75%/90%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Distribusi beban otomatis (lintas perusahaan)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Notifikasi tim penanggung jawab per kategori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Dasbor Overview (6 KPI, tren, SLA)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Isolasi data multi-perusahaan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Jejak audit &amp; penguncian tiket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Matriks Prioritas Otomatis (Impact × Urgency)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20240"/>
          <a:ext cx="112471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Impact \ Urgency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Lokasi lumpuh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Dept. lumpuh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Beberapa org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Satu org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Rutin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Seluruh perusahaan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Satu lokasi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Satu departemen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Individu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  <a:latin typeface="Calibri"/>
              </a:rPr>
              <a:t>Prioritas dihitung server-side &amp; readonly — pelapor tidak memilih prioritas secara langsung.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Kebijakan SLA per Prioritas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182880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Prioritas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1 jam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3 hari kerja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2 jam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4 hari kerja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4 jam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5 hari kerja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4 jam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5 hari kerja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37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  <a:latin typeface="Calibri"/>
              </a:rPr>
              <a:t>Berbasis jam kerja · dihentikan saat Waiting User · peringatan 75% &amp; 90% · alert breach ke IT Manager.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Persetujuan 2 Tingkat &amp; Peran (RBAC)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2A4A"/>
                </a:solidFill>
                <a:latin typeface="Calibri"/>
              </a:rPr>
              <a:t>Alur: Pemohon → Approval L1 (IT Administrator) → Approval L2 (Department Head) → Dikerjakan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1945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2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Peran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Hak utama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IT Support (Agen L1)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Mengerjakan tiket; tidak approve/hapus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Infrastructure / Application Team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Spesialis; penanggung jawab notifikasi kategori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IT Administrator (L1)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Persetujuan tingkat 1 + master data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Department Head (L2)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Persetujuan final; baca semua tiket lintas perusahaan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IT Manager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KPI, reassign, konfigurasi, alert SLA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7A2B"/>
                </a:solidFill>
                <a:latin typeface="Calibri"/>
              </a:rPr>
              <a:t>Segregation of duty: pemohon tidak dapat menyetujui tiket buatannya sendiri.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Dasbor Operasional (Overview)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6 kartu KPI: Total Open · Need Response · On Progress · Almost Overdue · Overdue · Solved Today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Tabel operasional: tiket belum direspon, hampir overdue, dan terlambat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Grafik tren 14 hari (tiket masuk vs selesai) &amp; sebaran tiket per status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Pengukur kepatuhan SLA (Response &amp; Resolution) — filter Day/Week/Month/Year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Menyegarkan otomatis setiap 60 detik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Hasil Pengujian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291840" cy="2011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0F2A4A"/>
                </a:solidFill>
                <a:latin typeface="Calibri"/>
              </a:rPr>
              <a:t>16/16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55555"/>
                </a:solidFill>
                <a:latin typeface="Calibri"/>
              </a:rPr>
              <a:t>unit test LULUS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83080"/>
            <a:ext cx="7315200" cy="4114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>
                <a:solidFill>
                  <a:srgbClr val="222A33"/>
                </a:solidFill>
                <a:latin typeface="Calibri"/>
              </a:rPr>
              <a:t>•  Unit testing: prioritas, penomoran, approval, guard anti-pelangkahan, pemisahan tugas, penguncian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>
                <a:solidFill>
                  <a:srgbClr val="222A33"/>
                </a:solidFill>
                <a:latin typeface="Calibri"/>
              </a:rPr>
              <a:t>•  Instalasi bersih tanpa data contoh — berhasil tanpa galat (skenario produksi)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>
                <a:solidFill>
                  <a:srgbClr val="222A33"/>
                </a:solidFill>
                <a:latin typeface="Calibri"/>
              </a:rPr>
              <a:t>•  Black-box portal: pembuatan tiket &amp; pemantauan status sesuai rancangan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>
                <a:solidFill>
                  <a:srgbClr val="222A33"/>
                </a:solidFill>
                <a:latin typeface="Calibri"/>
              </a:rPr>
              <a:t>•  Black-box approval: persetujuan 2 tingkat &amp; pemisahan tugas sesuai rancangan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>
                <a:solidFill>
                  <a:srgbClr val="222A33"/>
                </a:solidFill>
                <a:latin typeface="Calibri"/>
              </a:rPr>
              <a:t>•  Multi-perusahaan: isolasi data sesuai rancangan pada berbagai kombinasi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Perbandingan dengan Penelitian 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8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Penelitian terdahulu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Penelitian ini</a:t>
                      </a:r>
                    </a:p>
                  </a:txBody>
                  <a:tcPr marL="73152" marT="27432" marB="27432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Konteks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Umumnya satu organisasi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Grup multi-perusahaan + isolasi data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Aplikasi web berdiri sendiri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Modul kustom di atas ERP Odoo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Prioritas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Sering dipilih manual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Dihitung otomatis (Impact × Urgency)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Persetujuan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Jarang dibahas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Dua tingkat + pemisahan tugas</a:t>
                      </a:r>
                    </a:p>
                  </a:txBody>
                  <a:tcPr marL="73152" marT="18288" marB="18288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SLA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Sebagian menerapkan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3"/>
                          </a:solidFill>
                          <a:latin typeface="Calibri"/>
                        </a:rPr>
                        <a:t>8 kebijakan + peringatan dini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A298-A77F-CAAE-1B8A-076461C5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6CC031-9539-7C28-C954-38BF16B8230B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8FEC6-2FB1-8DC3-ED37-E10D380E9324}"/>
              </a:ext>
            </a:extLst>
          </p:cNvPr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AEBEA-9A9E-07B0-5785-0C3ABE0A9B19}"/>
              </a:ext>
            </a:extLst>
          </p:cNvPr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69593-5478-6461-0894-8D48AC08DEA7}"/>
              </a:ext>
            </a:extLst>
          </p:cNvPr>
          <p:cNvSpPr txBox="1"/>
          <p:nvPr/>
        </p:nvSpPr>
        <p:spPr>
          <a:xfrm>
            <a:off x="548640" y="622905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CITE Helpdesk Web View 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3EA36-31B6-125E-C29A-F628964ED500}"/>
              </a:ext>
            </a:extLst>
          </p:cNvPr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9AF4-CAF4-35E6-7FB8-2FB13E6FC7E1}"/>
              </a:ext>
            </a:extLst>
          </p:cNvPr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213F54-2A1E-9E00-C32F-1F8E365BB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0" y="1435609"/>
            <a:ext cx="4507640" cy="2474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57D20E-2410-E65F-5420-286C56F60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61" y="1690527"/>
            <a:ext cx="4507639" cy="41186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E0D2D9-5085-1C5A-7B24-AE76C0049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4001779"/>
            <a:ext cx="4037414" cy="23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8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3621-C48D-573F-0B39-AB5CA07A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DE5C07-9E74-5E00-F4A6-2F6065E2437B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7A0B2-76D2-A7DC-B82F-1D705191AF36}"/>
              </a:ext>
            </a:extLst>
          </p:cNvPr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0AC11-41BE-FE27-B1D2-17159408809A}"/>
              </a:ext>
            </a:extLst>
          </p:cNvPr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BAB 4 — HASIL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F7B89-C035-7153-B053-AFCA485E5FA8}"/>
              </a:ext>
            </a:extLst>
          </p:cNvPr>
          <p:cNvSpPr txBox="1"/>
          <p:nvPr/>
        </p:nvSpPr>
        <p:spPr>
          <a:xfrm>
            <a:off x="548640" y="622905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CITE Helpdesk Backend View 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C71754-D777-8E84-B8ED-0D880CBFAF9D}"/>
              </a:ext>
            </a:extLst>
          </p:cNvPr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2B0FC-8097-9233-EC29-2CC012A1503D}"/>
              </a:ext>
            </a:extLst>
          </p:cNvPr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E068C8-9967-778A-C6EC-DB7DD83C2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1715"/>
            <a:ext cx="5765800" cy="26482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00ECD1-518E-631C-4A24-2290D5A5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57" y="2668317"/>
            <a:ext cx="6425743" cy="26616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96BCF3-B948-728F-E3BB-1FDA62770420}"/>
              </a:ext>
            </a:extLst>
          </p:cNvPr>
          <p:cNvSpPr txBox="1"/>
          <p:nvPr/>
        </p:nvSpPr>
        <p:spPr>
          <a:xfrm>
            <a:off x="101600" y="2108318"/>
            <a:ext cx="795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Fully functional dashboard and interactive backend.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112016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FC2E6"/>
                </a:solidFill>
                <a:latin typeface="Calibri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CITE Helpdesk — </a:t>
            </a:r>
            <a:r>
              <a:rPr lang="en-US" sz="900" b="0" i="0" dirty="0">
                <a:solidFill>
                  <a:srgbClr val="555555"/>
                </a:solidFill>
                <a:latin typeface="Calibri"/>
              </a:rPr>
              <a:t>METOPEN </a:t>
            </a:r>
            <a:r>
              <a:rPr sz="900" b="0" i="0" dirty="0">
                <a:solidFill>
                  <a:srgbClr val="555555"/>
                </a:solidFill>
                <a:latin typeface="Calibri"/>
              </a:rPr>
              <a:t>Teknik </a:t>
            </a:r>
            <a:r>
              <a:rPr sz="900" b="0" i="0" dirty="0" err="1">
                <a:solidFill>
                  <a:srgbClr val="555555"/>
                </a:solidFill>
                <a:latin typeface="Calibri"/>
              </a:rPr>
              <a:t>Informatika</a:t>
            </a:r>
            <a:endParaRPr sz="90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Universitas Esa Unggul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Sistem IT Helpdesk terpusat untuk 3 perusahaan berhasil dibangun di atas Odoo (native-first)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Prioritas berhasil diobjektifkan melalui matriks Impact × Urgency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Kendali permintaan sensitif tercapai lewat persetujuan 2 tingkat + pemisahan tugas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Kualitas layanan menjadi terukur melalui SLA &amp; dasbor kepatuhan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Terbukti hidup berdampingan dengan modul helpdesk lain di basis data yang sama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222A33"/>
                </a:solidFill>
                <a:latin typeface="Calibri"/>
              </a:rPr>
              <a:t>•  Seluruh 16 unit test lulus &amp; instalasi bersih terverifikasi — siap produksi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3063240"/>
            <a:ext cx="2011680" cy="82296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9284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800" b="0" i="0" dirty="0">
                <a:solidFill>
                  <a:srgbClr val="CFDDEC"/>
                </a:solidFill>
                <a:latin typeface="Calibri"/>
              </a:rPr>
              <a:t>Bryan Frisco Peraira</a:t>
            </a:r>
            <a:r>
              <a:rPr sz="1800" b="0" i="0" dirty="0">
                <a:solidFill>
                  <a:srgbClr val="CFDDEC"/>
                </a:solidFill>
                <a:latin typeface="Calibri"/>
              </a:rPr>
              <a:t>— 20230801</a:t>
            </a:r>
            <a:r>
              <a:rPr lang="en-US" sz="1800" b="0" i="0" dirty="0">
                <a:solidFill>
                  <a:srgbClr val="CFDDEC"/>
                </a:solidFill>
                <a:latin typeface="Calibri"/>
              </a:rPr>
              <a:t>224</a:t>
            </a:r>
            <a:endParaRPr sz="1800" b="0" i="0" dirty="0">
              <a:solidFill>
                <a:srgbClr val="CFDDEC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 dirty="0" err="1">
                <a:solidFill>
                  <a:srgbClr val="9FC2E6"/>
                </a:solidFill>
                <a:latin typeface="Calibri"/>
              </a:rPr>
              <a:t>Perancangan</a:t>
            </a:r>
            <a:r>
              <a:rPr sz="1500" b="0" i="0" dirty="0">
                <a:solidFill>
                  <a:srgbClr val="9FC2E6"/>
                </a:solidFill>
                <a:latin typeface="Calibri"/>
              </a:rPr>
              <a:t> dan </a:t>
            </a:r>
            <a:r>
              <a:rPr sz="1500" b="0" i="0" dirty="0" err="1">
                <a:solidFill>
                  <a:srgbClr val="9FC2E6"/>
                </a:solidFill>
                <a:latin typeface="Calibri"/>
              </a:rPr>
              <a:t>Implementasi</a:t>
            </a:r>
            <a:r>
              <a:rPr sz="1500" b="0" i="0" dirty="0">
                <a:solidFill>
                  <a:srgbClr val="9FC2E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9FC2E6"/>
                </a:solidFill>
                <a:latin typeface="Calibri"/>
              </a:rPr>
              <a:t>Sistem</a:t>
            </a:r>
            <a:r>
              <a:rPr sz="1500" b="0" i="0" dirty="0">
                <a:solidFill>
                  <a:srgbClr val="9FC2E6"/>
                </a:solidFill>
                <a:latin typeface="Calibri"/>
              </a:rPr>
              <a:t> IT Helpdesk </a:t>
            </a:r>
            <a:r>
              <a:rPr sz="1500" b="0" i="0" dirty="0" err="1">
                <a:solidFill>
                  <a:srgbClr val="9FC2E6"/>
                </a:solidFill>
                <a:latin typeface="Calibri"/>
              </a:rPr>
              <a:t>Berbasis</a:t>
            </a:r>
            <a:r>
              <a:rPr sz="1500" b="0" i="0" dirty="0">
                <a:solidFill>
                  <a:srgbClr val="9FC2E6"/>
                </a:solidFill>
                <a:latin typeface="Calibri"/>
              </a:rPr>
              <a:t> Odoo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1" dirty="0">
                <a:solidFill>
                  <a:srgbClr val="9FC2E6"/>
                </a:solidFill>
                <a:latin typeface="Calibri"/>
              </a:rPr>
              <a:t>Sesi </a:t>
            </a:r>
            <a:r>
              <a:rPr sz="1400" b="0" i="1" dirty="0" err="1">
                <a:solidFill>
                  <a:srgbClr val="9FC2E6"/>
                </a:solidFill>
                <a:latin typeface="Calibri"/>
              </a:rPr>
              <a:t>tanya</a:t>
            </a:r>
            <a:r>
              <a:rPr sz="1400" b="0" i="1" dirty="0">
                <a:solidFill>
                  <a:srgbClr val="9FC2E6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FC2E6"/>
                </a:solidFill>
                <a:latin typeface="Calibri"/>
              </a:rPr>
              <a:t>jawab</a:t>
            </a:r>
            <a:r>
              <a:rPr sz="1400" b="0" i="1" dirty="0">
                <a:solidFill>
                  <a:srgbClr val="9FC2E6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9FC2E6"/>
                </a:solidFill>
                <a:latin typeface="Calibri"/>
              </a:rPr>
              <a:t>dipersilakan</a:t>
            </a:r>
            <a:r>
              <a:rPr sz="1400" b="0" i="1" dirty="0">
                <a:solidFill>
                  <a:srgbClr val="9FC2E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1217</Words>
  <Application>Microsoft Office PowerPoint</Application>
  <PresentationFormat>Widescreen</PresentationFormat>
  <Paragraphs>221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Bryan Frisco Peraira</cp:lastModifiedBy>
  <cp:revision>3</cp:revision>
  <dcterms:created xsi:type="dcterms:W3CDTF">2013-01-27T09:14:16Z</dcterms:created>
  <dcterms:modified xsi:type="dcterms:W3CDTF">2026-07-23T07:17:28Z</dcterms:modified>
  <cp:category/>
</cp:coreProperties>
</file>